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white"/>
                </a:solidFill>
                <a:cs typeface="Calibri" panose="020F0502020204030204" pitchFamily="34" charset="0"/>
              </a:rPr>
              <a:t>Temporal‑to‑Semantic Embedding for Predictive Maintenance</a:t>
            </a:r>
          </a:p>
          <a:p>
            <a:pPr lvl="0" algn="ctr">
              <a:defRPr/>
            </a:pPr>
            <a:r>
              <a:rPr lang="en-US" sz="2800" b="0" dirty="0">
                <a:solidFill>
                  <a:prstClr val="white"/>
                </a:solidFill>
                <a:cs typeface="Calibri" panose="020F0502020204030204" pitchFamily="34" charset="0"/>
              </a:rPr>
              <a:t>Explainable RUL Prediction using Contrastive Learning</a:t>
            </a:r>
            <a:endParaRPr lang="en-US" sz="28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Oviya Ragothaman – T9941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49999"/>
            <a:ext cx="11781107" cy="452614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Raw sensor data is hard to interpret and hard to align with textual maintenance reports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Predictive maintenance needs Remaining Useful Life (RUL) estimates and clear reasons behind them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Idea: </a:t>
            </a:r>
            <a:r>
              <a:rPr lang="en-US" b="0" dirty="0">
                <a:solidFill>
                  <a:srgbClr val="242424"/>
                </a:solidFill>
                <a:latin typeface="+mn-lt"/>
              </a:rPr>
              <a:t>To embed the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sensor time-series and maintenance text into one shared semantic space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A multi-agent layer turns the aligned embeddings into explainable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1451322" cy="390000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Convert multivariate sensor time-series into embeddings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Convert maintenance text into embeddings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Align both using contrastive learning (InfoNCE / Triplet loss)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Predict Remaining Useful Life (RUL) with explainable output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Integrate a multi-agent system for monitoring, diagnosis and 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49999"/>
            <a:ext cx="11451322" cy="4031463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Monitoring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watches sensor embeddings for anomalies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Retrieval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finds similar maintenance reports in the semantic space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Diagnosis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infers the likely fault and RUL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Verification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cross-checks the diagnosis against evidence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Recommendation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suggests a maintenance action with explanation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Module: Multi-Agent System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0624338" cy="390000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600" b="1" i="0" dirty="0">
                <a:solidFill>
                  <a:srgbClr val="5583D1"/>
                </a:solidFill>
                <a:latin typeface="+mn-lt"/>
              </a:rPr>
              <a:t>Problem → </a:t>
            </a:r>
            <a:r>
              <a:rPr lang="en-US" sz="2600" b="0" i="0" dirty="0">
                <a:solidFill>
                  <a:srgbClr val="242424"/>
                </a:solidFill>
                <a:latin typeface="+mn-lt"/>
              </a:rPr>
              <a:t>Raw sensor data is hard to interpret and align with textual maintenance reports.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600" b="1" i="0" dirty="0">
                <a:solidFill>
                  <a:srgbClr val="5583D1"/>
                </a:solidFill>
                <a:latin typeface="+mn-lt"/>
              </a:rPr>
              <a:t>Solution → </a:t>
            </a:r>
            <a:r>
              <a:rPr lang="en-US" sz="2600" b="0" i="0" dirty="0">
                <a:solidFill>
                  <a:srgbClr val="242424"/>
                </a:solidFill>
                <a:latin typeface="+mn-lt"/>
              </a:rPr>
              <a:t>Convert sensor time-series and text into embeddings, then align both using contrastive learning.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600" b="1" i="0" dirty="0">
                <a:solidFill>
                  <a:srgbClr val="5583D1"/>
                </a:solidFill>
                <a:latin typeface="+mn-lt"/>
              </a:rPr>
              <a:t>Outcome → </a:t>
            </a:r>
            <a:r>
              <a:rPr lang="en-US" sz="2600" b="0" i="0" dirty="0">
                <a:solidFill>
                  <a:srgbClr val="242424"/>
                </a:solidFill>
                <a:latin typeface="+mn-lt"/>
              </a:rPr>
              <a:t>Explainable predictive maintenance with Remaining Useful Life (RUL) prediction.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0624338" cy="390000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Dataset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NASA C-MAPSS (multivariate sensor readings + maintenance logs)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Preprocessing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normalization, time-window segmentation, handling missing values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EDA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plot sensor trends, visualize anomalies, check correlations between sensor features and failures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49999"/>
            <a:ext cx="11646194" cy="3911541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Time-series encoder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LSTM / Transformer for sensor embeddings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Text encoder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Sentence Transformer (BERT / DistilBERT) for text embeddings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Contrastive alignment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InfoNCE / Triplet loss to align the two embeddings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Multi-agent system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monitoring, retrieval, diagnosis, verification, 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  <p:sp>
        <p:nvSpPr>
          <p:cNvPr id="101" name="Box 101"/>
          <p:cNvSpPr/>
          <p:nvPr/>
        </p:nvSpPr>
        <p:spPr>
          <a:xfrm>
            <a:off x="400000" y="145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1–2</a:t>
            </a:r>
          </a:p>
        </p:txBody>
      </p:sp>
      <p:sp>
        <p:nvSpPr>
          <p:cNvPr id="102" name="Label 102"/>
          <p:cNvSpPr txBox="1"/>
          <p:nvPr/>
        </p:nvSpPr>
        <p:spPr>
          <a:xfrm>
            <a:off x="2550000" y="145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Dataset preprocessing &amp; EDA</a:t>
            </a:r>
          </a:p>
        </p:txBody>
      </p:sp>
      <p:sp>
        <p:nvSpPr>
          <p:cNvPr id="103" name="Box 103"/>
          <p:cNvSpPr/>
          <p:nvPr/>
        </p:nvSpPr>
        <p:spPr>
          <a:xfrm>
            <a:off x="400000" y="207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3–4</a:t>
            </a:r>
          </a:p>
        </p:txBody>
      </p:sp>
      <p:sp>
        <p:nvSpPr>
          <p:cNvPr id="104" name="Label 104"/>
          <p:cNvSpPr txBox="1"/>
          <p:nvPr/>
        </p:nvSpPr>
        <p:spPr>
          <a:xfrm>
            <a:off x="2550000" y="207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Build sensor encoder + text transformer</a:t>
            </a:r>
          </a:p>
        </p:txBody>
      </p:sp>
      <p:sp>
        <p:nvSpPr>
          <p:cNvPr id="105" name="Box 105"/>
          <p:cNvSpPr/>
          <p:nvPr/>
        </p:nvSpPr>
        <p:spPr>
          <a:xfrm>
            <a:off x="400000" y="269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5–6</a:t>
            </a:r>
          </a:p>
        </p:txBody>
      </p:sp>
      <p:sp>
        <p:nvSpPr>
          <p:cNvPr id="106" name="Label 106"/>
          <p:cNvSpPr txBox="1"/>
          <p:nvPr/>
        </p:nvSpPr>
        <p:spPr>
          <a:xfrm>
            <a:off x="2550000" y="269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Train contrastive alignment model</a:t>
            </a:r>
          </a:p>
        </p:txBody>
      </p:sp>
      <p:sp>
        <p:nvSpPr>
          <p:cNvPr id="107" name="Box 107"/>
          <p:cNvSpPr/>
          <p:nvPr/>
        </p:nvSpPr>
        <p:spPr>
          <a:xfrm>
            <a:off x="400000" y="331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7</a:t>
            </a:r>
          </a:p>
        </p:txBody>
      </p:sp>
      <p:sp>
        <p:nvSpPr>
          <p:cNvPr id="108" name="Label 108"/>
          <p:cNvSpPr txBox="1"/>
          <p:nvPr/>
        </p:nvSpPr>
        <p:spPr>
          <a:xfrm>
            <a:off x="2550000" y="331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Integrate multi-agent system</a:t>
            </a:r>
          </a:p>
        </p:txBody>
      </p:sp>
      <p:sp>
        <p:nvSpPr>
          <p:cNvPr id="109" name="Box 109"/>
          <p:cNvSpPr/>
          <p:nvPr/>
        </p:nvSpPr>
        <p:spPr>
          <a:xfrm>
            <a:off x="400000" y="393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8</a:t>
            </a:r>
          </a:p>
        </p:txBody>
      </p:sp>
      <p:sp>
        <p:nvSpPr>
          <p:cNvPr id="110" name="Label 110"/>
          <p:cNvSpPr txBox="1"/>
          <p:nvPr/>
        </p:nvSpPr>
        <p:spPr>
          <a:xfrm>
            <a:off x="2550000" y="393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Evaluation &amp; PPT preparation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65D65B-4132-6249-8BDD-D9B115CBA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379" y="1234637"/>
            <a:ext cx="8874177" cy="494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Outcome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Temporal‑to‑Semantic Embedding for Predictive Maintenance</a:t>
            </a:r>
          </a:p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6A2B9-D895-B1ED-5675-406BC9589DC9}"/>
              </a:ext>
            </a:extLst>
          </p:cNvPr>
          <p:cNvSpPr txBox="1"/>
          <p:nvPr/>
        </p:nvSpPr>
        <p:spPr>
          <a:xfrm>
            <a:off x="431137" y="1753859"/>
            <a:ext cx="11546004" cy="219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800" b="1" i="0" dirty="0">
                <a:solidFill>
                  <a:schemeClr val="tx1"/>
                </a:solidFill>
                <a:latin typeface="+mn-lt"/>
              </a:rPr>
              <a:t>Impact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800" b="0" i="0" dirty="0">
                <a:solidFill>
                  <a:schemeClr val="tx1"/>
                </a:solidFill>
                <a:latin typeface="+mn-lt"/>
              </a:rPr>
              <a:t>Explainable predictive maintenance: sensor </a:t>
            </a:r>
            <a:r>
              <a:rPr lang="en-US" sz="2800" b="0" i="0" dirty="0" err="1">
                <a:solidFill>
                  <a:schemeClr val="tx1"/>
                </a:solidFill>
                <a:latin typeface="+mn-lt"/>
              </a:rPr>
              <a:t>behaviour</a:t>
            </a:r>
            <a:r>
              <a:rPr lang="en-US" sz="2800" b="0" i="0" dirty="0">
                <a:solidFill>
                  <a:schemeClr val="tx1"/>
                </a:solidFill>
                <a:latin typeface="+mn-lt"/>
              </a:rPr>
              <a:t> and maintenance text share one semantic space, so RUL predictions come with reasons engineers can act on.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Self‑Learning Digital Twin for CSTR</a:t>
            </a:r>
          </a:p>
          <a:p>
            <a:pPr lvl="0" algn="ctr">
              <a:defRPr/>
            </a:pPr>
            <a:r>
              <a:rPr lang="en-US" sz="3600" b="0" dirty="0">
                <a:solidFill>
                  <a:prstClr val="white"/>
                </a:solidFill>
                <a:cs typeface="Calibri" panose="020F0502020204030204" pitchFamily="34" charset="0"/>
              </a:rPr>
              <a:t>Adaptive, Uncertainty-Aware Twin using RL and MLOps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800" b="1" dirty="0">
                <a:solidFill>
                  <a:prstClr val="white"/>
                </a:solidFill>
                <a:cs typeface="Calibri" panose="020F0502020204030204" pitchFamily="34" charset="0"/>
              </a:rPr>
              <a:t>Oviya Ragothaman- T9941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349999"/>
            <a:ext cx="11706155" cy="4181367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Traditional digital twins are static and do not adapt as the process changes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They also give no confidence score, so predictions are hard to trust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Idea: A twin of a Continuous Stirred Tank Reactor (CSTR) that keeps learning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Reinforcement learning + uncertainty estimation make it adaptive and trustworthy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49999"/>
            <a:ext cx="11936004" cy="4316243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Build an adaptive digital twin of a CSTR using reinforcement learning (PPO)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Attach a confidence level to every prediction using Monte Carlo Dropout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Detect drift and retrain automatically with an MLOps pipeline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0" i="0" dirty="0">
                <a:solidFill>
                  <a:srgbClr val="242424"/>
                </a:solidFill>
                <a:latin typeface="+mn-lt"/>
              </a:rPr>
              <a:t>Deploy on the cloud with Docker, Kubernetes, Prometheus and Grafana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0624338" cy="3900000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600" b="1" i="0" dirty="0">
                <a:solidFill>
                  <a:srgbClr val="5583D1"/>
                </a:solidFill>
                <a:latin typeface="+mn-lt"/>
              </a:rPr>
              <a:t>Keeping the twin trustworthy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5583D1"/>
                </a:solidFill>
                <a:latin typeface="+mn-lt"/>
              </a:rPr>
              <a:t>MC Dropout → </a:t>
            </a:r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confidence score for every prediction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5583D1"/>
                </a:solidFill>
                <a:latin typeface="+mn-lt"/>
              </a:rPr>
              <a:t>Drift detection → </a:t>
            </a:r>
            <a:r>
              <a:rPr lang="en-US" sz="2400" b="0" i="0" dirty="0">
                <a:solidFill>
                  <a:srgbClr val="242424"/>
                </a:solidFill>
                <a:latin typeface="+mn-lt"/>
              </a:rPr>
              <a:t>flags when reactor behaviour shifts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5583D1"/>
                </a:solidFill>
                <a:latin typeface="+mn-lt"/>
              </a:rPr>
              <a:t>Retraining → </a:t>
            </a:r>
            <a:r>
              <a:rPr lang="en-US" sz="2400" b="0" i="0" dirty="0">
                <a:solidFill>
                  <a:srgbClr val="242424"/>
                </a:solidFill>
                <a:latin typeface="+mn-lt"/>
              </a:rPr>
              <a:t>updates the twin automatically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5583D1"/>
                </a:solidFill>
                <a:latin typeface="+mn-lt"/>
              </a:rPr>
              <a:t>Monitoring → </a:t>
            </a:r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Prometheus + Grafana dashboards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sz="2400" b="1" i="0" dirty="0">
                <a:solidFill>
                  <a:srgbClr val="5583D1"/>
                </a:solidFill>
                <a:latin typeface="+mn-lt"/>
              </a:rPr>
              <a:t>Deployment → </a:t>
            </a:r>
            <a:r>
              <a:rPr lang="en-US" sz="2400" b="0" i="0" dirty="0">
                <a:solidFill>
                  <a:srgbClr val="242424"/>
                </a:solidFill>
                <a:latin typeface="+mn-lt"/>
              </a:rPr>
              <a:t>Docker + Kubernetes on the cloud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Module: Uncertainty &amp; MLOps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1586234" cy="390000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Problem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Traditional digital twins are static and do not provide confidence scores.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Solution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Build an adaptive twin using reinforcement learning + uncertainty estimation.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Outcome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A trustworthy, adaptive twin that reports confidence levels.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1936004" cy="3896553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Dataset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generated from a CSTR simulation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Preprocessing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normalize features (temperature, concentration, flow rates, control actions)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EDA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plot reactor dynamics, visualize stability regions, analyze control actions vs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0000"/>
            <a:ext cx="11226470" cy="3900000"/>
          </a:xfrm>
        </p:spPr>
        <p:txBody>
          <a:bodyPr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Reinforcement learning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PPO learns optimal control strategies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Uncertainty estimation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Monte Carlo Dropout for confidence scores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MLOps pipeline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drift detection + retraining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Clr>
                <a:srgbClr val="5583D1"/>
              </a:buClr>
              <a:buFont typeface="Arial"/>
              <a:buChar char="•"/>
            </a:pPr>
            <a:r>
              <a:rPr lang="en-US" b="1" i="0" dirty="0">
                <a:solidFill>
                  <a:srgbClr val="5583D1"/>
                </a:solidFill>
                <a:latin typeface="+mn-lt"/>
              </a:rPr>
              <a:t>Cloud deployment → </a:t>
            </a:r>
            <a:r>
              <a:rPr lang="en-US" b="0" i="0" dirty="0">
                <a:solidFill>
                  <a:srgbClr val="242424"/>
                </a:solidFill>
                <a:latin typeface="+mn-lt"/>
              </a:rPr>
              <a:t>Docker, Kubernetes, Prometheus, Grafana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  <p:sp>
        <p:nvSpPr>
          <p:cNvPr id="130" name="Box 130"/>
          <p:cNvSpPr/>
          <p:nvPr/>
        </p:nvSpPr>
        <p:spPr>
          <a:xfrm>
            <a:off x="400000" y="145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1–2</a:t>
            </a:r>
          </a:p>
        </p:txBody>
      </p:sp>
      <p:sp>
        <p:nvSpPr>
          <p:cNvPr id="131" name="Label 131"/>
          <p:cNvSpPr txBox="1"/>
          <p:nvPr/>
        </p:nvSpPr>
        <p:spPr>
          <a:xfrm>
            <a:off x="2550000" y="145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Simulation setup + data preprocessing</a:t>
            </a:r>
          </a:p>
        </p:txBody>
      </p:sp>
      <p:sp>
        <p:nvSpPr>
          <p:cNvPr id="132" name="Box 132"/>
          <p:cNvSpPr/>
          <p:nvPr/>
        </p:nvSpPr>
        <p:spPr>
          <a:xfrm>
            <a:off x="400000" y="207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3–4</a:t>
            </a:r>
          </a:p>
        </p:txBody>
      </p:sp>
      <p:sp>
        <p:nvSpPr>
          <p:cNvPr id="133" name="Label 133"/>
          <p:cNvSpPr txBox="1"/>
          <p:nvPr/>
        </p:nvSpPr>
        <p:spPr>
          <a:xfrm>
            <a:off x="2550000" y="207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RL agent training (PPO)</a:t>
            </a:r>
          </a:p>
        </p:txBody>
      </p:sp>
      <p:sp>
        <p:nvSpPr>
          <p:cNvPr id="134" name="Box 134"/>
          <p:cNvSpPr/>
          <p:nvPr/>
        </p:nvSpPr>
        <p:spPr>
          <a:xfrm>
            <a:off x="400000" y="269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135" name="Label 135"/>
          <p:cNvSpPr txBox="1"/>
          <p:nvPr/>
        </p:nvSpPr>
        <p:spPr>
          <a:xfrm>
            <a:off x="2550000" y="269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Add uncertainty estimation</a:t>
            </a:r>
          </a:p>
        </p:txBody>
      </p:sp>
      <p:sp>
        <p:nvSpPr>
          <p:cNvPr id="136" name="Box 136"/>
          <p:cNvSpPr/>
          <p:nvPr/>
        </p:nvSpPr>
        <p:spPr>
          <a:xfrm>
            <a:off x="400000" y="331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137" name="Label 137"/>
          <p:cNvSpPr txBox="1"/>
          <p:nvPr/>
        </p:nvSpPr>
        <p:spPr>
          <a:xfrm>
            <a:off x="2550000" y="331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Build MLOps pipeline</a:t>
            </a:r>
          </a:p>
        </p:txBody>
      </p:sp>
      <p:sp>
        <p:nvSpPr>
          <p:cNvPr id="138" name="Box 138"/>
          <p:cNvSpPr/>
          <p:nvPr/>
        </p:nvSpPr>
        <p:spPr>
          <a:xfrm>
            <a:off x="400000" y="393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7</a:t>
            </a:r>
          </a:p>
        </p:txBody>
      </p:sp>
      <p:sp>
        <p:nvSpPr>
          <p:cNvPr id="139" name="Label 139"/>
          <p:cNvSpPr txBox="1"/>
          <p:nvPr/>
        </p:nvSpPr>
        <p:spPr>
          <a:xfrm>
            <a:off x="2550000" y="393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Cloud deployment</a:t>
            </a:r>
          </a:p>
        </p:txBody>
      </p:sp>
      <p:sp>
        <p:nvSpPr>
          <p:cNvPr id="140" name="Box 140"/>
          <p:cNvSpPr/>
          <p:nvPr/>
        </p:nvSpPr>
        <p:spPr>
          <a:xfrm>
            <a:off x="400000" y="4550000"/>
            <a:ext cx="1900000" cy="520000"/>
          </a:xfrm>
          <a:prstGeom prst="roundRect">
            <a:avLst/>
          </a:prstGeom>
          <a:solidFill>
            <a:srgbClr val="5583D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Week 8</a:t>
            </a:r>
          </a:p>
        </p:txBody>
      </p:sp>
      <p:sp>
        <p:nvSpPr>
          <p:cNvPr id="141" name="Label 141"/>
          <p:cNvSpPr txBox="1"/>
          <p:nvPr/>
        </p:nvSpPr>
        <p:spPr>
          <a:xfrm>
            <a:off x="2550000" y="4550000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800" b="0" i="0" dirty="0">
                <a:solidFill>
                  <a:srgbClr val="242424"/>
                </a:solidFill>
                <a:latin typeface="Calibri"/>
              </a:rPr>
              <a:t>Evaluation &amp; PPT preparation</a:t>
            </a:r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21274" y="38020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974104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0B3CE-20C0-A1B6-7990-99E5D9C6E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549" y="1148876"/>
            <a:ext cx="9090654" cy="527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Outcome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>
                <a:solidFill>
                  <a:srgbClr val="FFFFFF"/>
                </a:solidFill>
              </a:rPr>
              <a:t>Self‑Learning Digital Twin for CSTR</a:t>
            </a:r>
          </a:p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4CB70-B134-F971-A252-ABC1780B1F32}"/>
              </a:ext>
            </a:extLst>
          </p:cNvPr>
          <p:cNvSpPr txBox="1"/>
          <p:nvPr/>
        </p:nvSpPr>
        <p:spPr>
          <a:xfrm>
            <a:off x="494675" y="1594384"/>
            <a:ext cx="11257614" cy="170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800" b="1" i="0" dirty="0"/>
              <a:t>Impact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800" i="0" dirty="0"/>
              <a:t>A trustworthy, self-adapting digital twin that reports how confident it is in every prediction.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912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Oviya Ragothaman</cp:lastModifiedBy>
  <cp:revision>13</cp:revision>
  <dcterms:created xsi:type="dcterms:W3CDTF">2024-05-13T10:33:11Z</dcterms:created>
  <dcterms:modified xsi:type="dcterms:W3CDTF">2026-10-05T17:15:21Z</dcterms:modified>
</cp:coreProperties>
</file>