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8703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01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Temporal-to-Semantic Embedding for Explainable Predictive Maintenance in Industrial Systems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Oviya Ragothaman – T9941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D833A-3D5D-DFFC-18DC-5736EA724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9289"/>
            <a:ext cx="2137674" cy="106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8"/>
            <a:ext cx="11775137" cy="467237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Modern industrial machines generate large amounts of multivariate sensor data during operation.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Traditional predictive-maintenance systems mainly use numerical sensor data to predict quantities such as Remaining Useful Life (RUL).</a:t>
            </a:r>
          </a:p>
          <a:p>
            <a:pPr>
              <a:lnSpc>
                <a:spcPct val="15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This project aims to bridge the gap between sensor data and maintenance knowledge by converting industrial time-series data into semantic embeddings, retrieving relevant historical maintenance reports, and using an agentic AI system to generate explainable maintenance recommendations.</a:t>
            </a:r>
          </a:p>
          <a:p>
            <a:pPr lvl="0">
              <a:lnSpc>
                <a:spcPct val="150000"/>
              </a:lnSpc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764" y="1357505"/>
            <a:ext cx="11690471" cy="4308735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Align time-series and maintenance reports into a common semantic embedding space. </a:t>
            </a:r>
          </a:p>
          <a:p>
            <a:pPr lvl="0" algn="just">
              <a:lnSpc>
                <a:spcPct val="150000"/>
              </a:lnSpc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Retrieve relevant historical maintenance reports using FAISS. </a:t>
            </a:r>
          </a:p>
          <a:p>
            <a:pPr lvl="0" algn="just">
              <a:lnSpc>
                <a:spcPct val="150000"/>
              </a:lnSpc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Build an Agentic RAG framework for evidence-based maintenance recommendations. </a:t>
            </a:r>
          </a:p>
          <a:p>
            <a:pPr lvl="0" algn="just">
              <a:lnSpc>
                <a:spcPct val="150000"/>
              </a:lnSpc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Generate explainable industrial maintenance reports.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3A7622-EC73-AA77-C76D-1169A44B11DF}"/>
              </a:ext>
            </a:extLst>
          </p:cNvPr>
          <p:cNvSpPr txBox="1"/>
          <p:nvPr/>
        </p:nvSpPr>
        <p:spPr>
          <a:xfrm>
            <a:off x="2311399" y="10870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130" y="1523255"/>
            <a:ext cx="10624338" cy="4142989"/>
          </a:xfrm>
        </p:spPr>
        <p:txBody>
          <a:bodyPr/>
          <a:lstStyle/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Multivariate industrial sensor time-series analysis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Transformer-based temporal representation learning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Sensor-to-text embedding alignment using contrastive learning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Semantic retrieval of maintenance knowledge using FAISS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RAG-based diagnosis and maintenance recommendations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 (Body)"/>
              </a:rPr>
              <a:t>Evaluation using RUL, retrieval and alignment metrics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B8E70B-7190-0DBA-2CA7-9B7B43B6D746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221A30-B6E7-4321-296A-B339CC2AE646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8A30764-210E-93BB-2338-266C78F31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44371"/>
              </p:ext>
            </p:extLst>
          </p:nvPr>
        </p:nvGraphicFramePr>
        <p:xfrm>
          <a:off x="233403" y="1312335"/>
          <a:ext cx="11725194" cy="4284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756">
                  <a:extLst>
                    <a:ext uri="{9D8B030D-6E8A-4147-A177-3AD203B41FA5}">
                      <a16:colId xmlns:a16="http://schemas.microsoft.com/office/drawing/2014/main" val="977989318"/>
                    </a:ext>
                  </a:extLst>
                </a:gridCol>
                <a:gridCol w="4454076">
                  <a:extLst>
                    <a:ext uri="{9D8B030D-6E8A-4147-A177-3AD203B41FA5}">
                      <a16:colId xmlns:a16="http://schemas.microsoft.com/office/drawing/2014/main" val="1154167027"/>
                    </a:ext>
                  </a:extLst>
                </a:gridCol>
                <a:gridCol w="3664064">
                  <a:extLst>
                    <a:ext uri="{9D8B030D-6E8A-4147-A177-3AD203B41FA5}">
                      <a16:colId xmlns:a16="http://schemas.microsoft.com/office/drawing/2014/main" val="4030131142"/>
                    </a:ext>
                  </a:extLst>
                </a:gridCol>
                <a:gridCol w="2931298">
                  <a:extLst>
                    <a:ext uri="{9D8B030D-6E8A-4147-A177-3AD203B41FA5}">
                      <a16:colId xmlns:a16="http://schemas.microsoft.com/office/drawing/2014/main" val="1453661106"/>
                    </a:ext>
                  </a:extLst>
                </a:gridCol>
              </a:tblGrid>
              <a:tr h="440615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Paper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Limitations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6494"/>
                  </a:ext>
                </a:extLst>
              </a:tr>
              <a:tr h="1464196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Remaining Useful Life Estimation of Aircraft Engines Using a Joint Deep Learning Model Based on TCNN and Transformer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Combines Temporal Convolutional Neural Network (TCNN)</a:t>
                      </a:r>
                      <a:r>
                        <a:rPr lang="en-IN" dirty="0"/>
                        <a:t> and </a:t>
                      </a:r>
                      <a:r>
                        <a:rPr lang="en-IN" b="0" dirty="0"/>
                        <a:t>Transformer</a:t>
                      </a:r>
                      <a:r>
                        <a:rPr lang="en-IN" dirty="0"/>
                        <a:t> for RUL prediction using NASA C-MAPSS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mainly on </a:t>
                      </a:r>
                      <a:r>
                        <a:rPr lang="en-IN" b="0" dirty="0"/>
                        <a:t>sensor-based RUL prediction</a:t>
                      </a:r>
                      <a:r>
                        <a:rPr lang="en-IN" dirty="0"/>
                        <a:t> and does not integrate maintenance text or semantic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61135"/>
                  </a:ext>
                </a:extLst>
              </a:tr>
              <a:tr h="1464196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Evolutionary Neural Architecture Search for Remaining Useful Life Prediction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</a:t>
                      </a:r>
                      <a:r>
                        <a:rPr lang="en-IN" b="0" dirty="0"/>
                        <a:t>Evolutionary Neural Architecture Search with CNN-LSTM </a:t>
                      </a:r>
                      <a:r>
                        <a:rPr lang="en-IN" dirty="0"/>
                        <a:t>to automatically identify suitable architectures for RUL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Concentrates on</a:t>
                      </a:r>
                      <a:r>
                        <a:rPr lang="en-IN" b="0" dirty="0"/>
                        <a:t> RUL estimation </a:t>
                      </a:r>
                      <a:r>
                        <a:rPr lang="en-IN" dirty="0"/>
                        <a:t>does not connect sensor representations with textual maintenance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552597"/>
                  </a:ext>
                </a:extLst>
              </a:tr>
              <a:tr h="91512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TS-CLIP: Time Series Understanding by CLIP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</a:t>
                      </a:r>
                      <a:r>
                        <a:rPr lang="en-IN" b="0" dirty="0"/>
                        <a:t>CLIP-style contrastive learning </a:t>
                      </a:r>
                      <a:r>
                        <a:rPr lang="en-IN" dirty="0"/>
                        <a:t>to align time-series representations with natural-language semantics.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specifically designed for industrial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0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98938" cy="4395020"/>
          </a:xfrm>
        </p:spPr>
        <p:txBody>
          <a:bodyPr/>
          <a:lstStyle/>
          <a:p>
            <a:pPr marL="0" indent="0" algn="just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literature review shows that existing research mainly focuses on three separate areas: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Predictive maintenance and RUL prediction use deep-learning and Transformer-based models to learn degradation patterns from sensor data.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RAG-based maintenance systems use textual maintenance knowledge to generate diagnoses and recommendations.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Time-series–text alignment methods use contrastive learning to map numerical time-series and language representations into a common embedding space.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884C73-4C52-D3AB-337B-705286A8A12F}"/>
              </a:ext>
            </a:extLst>
          </p:cNvPr>
          <p:cNvSpPr txBox="1"/>
          <p:nvPr/>
        </p:nvSpPr>
        <p:spPr>
          <a:xfrm>
            <a:off x="2311399" y="0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85FE0D-0633-E1B0-CE36-3E082174F5AD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6D9F1-6E91-C198-D5C7-2994D19E9960}"/>
              </a:ext>
            </a:extLst>
          </p:cNvPr>
          <p:cNvSpPr txBox="1"/>
          <p:nvPr/>
        </p:nvSpPr>
        <p:spPr>
          <a:xfrm>
            <a:off x="2235200" y="167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1CC0C-692E-9EE8-DD47-F5A43DCB503F}"/>
              </a:ext>
            </a:extLst>
          </p:cNvPr>
          <p:cNvSpPr txBox="1"/>
          <p:nvPr/>
        </p:nvSpPr>
        <p:spPr>
          <a:xfrm>
            <a:off x="626533" y="1844133"/>
            <a:ext cx="109389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Dataset:</a:t>
            </a:r>
            <a:r>
              <a:rPr lang="en-IN" sz="2800" dirty="0"/>
              <a:t> NASA C-MAPSS FD001 – 100 turbofan engines, 20,631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 err="1"/>
              <a:t>Preprocessed</a:t>
            </a:r>
            <a:r>
              <a:rPr lang="en-IN" sz="2800" b="1" dirty="0"/>
              <a:t> Data:</a:t>
            </a:r>
            <a:r>
              <a:rPr lang="en-IN" sz="2800" dirty="0"/>
              <a:t> 15 selected sensors, normalized to [0,1]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Temporal Input:</a:t>
            </a:r>
            <a:r>
              <a:rPr lang="en-IN" sz="2800" dirty="0"/>
              <a:t> 30-cycle sliding window → 17,731 samples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Target:</a:t>
            </a:r>
            <a:r>
              <a:rPr lang="en-IN" sz="2800" dirty="0"/>
              <a:t> Remaining Useful Life (RUL)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Technologies:</a:t>
            </a:r>
            <a:r>
              <a:rPr lang="en-IN" sz="2800" dirty="0"/>
              <a:t> Transformer, Sentence Transformer, </a:t>
            </a:r>
            <a:r>
              <a:rPr lang="en-IN" sz="2800" dirty="0" err="1"/>
              <a:t>InfoNCE</a:t>
            </a:r>
            <a:r>
              <a:rPr lang="en-IN" sz="2800" dirty="0"/>
              <a:t>, FAISS, RAG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511513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1. Data Preprocessing → C-MAPSS, feature selection, normalization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Temporal Windowing → 30-cycle × 15-sensor windows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Sensor Analysis → Trends, volatility, health status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4. Maintenance Knowledge Generation → Rules and maintenance descriptions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5. Time-Series Encoder → Transformer-based representation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6. Text Encoder → Sentence Transformer embeddings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7. Cross-Modal Alignment → Projection + </a:t>
            </a:r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InfoNCE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8. Semantic Retrieval → FAISS-based retrieval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9. RAG &amp; Reasoning → Diagnosis and recommendations</a:t>
            </a:r>
            <a:b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10. Evaluation → RUL, alignment and retrieval metrics</a:t>
            </a:r>
            <a:endPara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0E5283-98EF-042C-E998-9857018D3EAF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68660" y="1509880"/>
            <a:ext cx="10624338" cy="444565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800" b="1" dirty="0"/>
              <a:t>1. Dataset and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366063" y="5058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01- Data Preprocessing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24B978-F131-F5DF-B021-01E1F7F32204}"/>
              </a:ext>
            </a:extLst>
          </p:cNvPr>
          <p:cNvSpPr txBox="1"/>
          <p:nvPr/>
        </p:nvSpPr>
        <p:spPr>
          <a:xfrm>
            <a:off x="2311400" y="57036"/>
            <a:ext cx="988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Temporal-to-Semantic Embedding for Explainable Predictive Maintenance in Industrial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1490D-A61B-90E6-FEC2-10406BAF739E}"/>
              </a:ext>
            </a:extLst>
          </p:cNvPr>
          <p:cNvSpPr txBox="1"/>
          <p:nvPr/>
        </p:nvSpPr>
        <p:spPr>
          <a:xfrm>
            <a:off x="221274" y="2239577"/>
            <a:ext cx="115908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C-MAPSS FD001:</a:t>
            </a:r>
            <a:r>
              <a:rPr lang="en-IN" sz="2800" dirty="0"/>
              <a:t> NASA turbofan engine run-to-failure dataset containing 100 engines and 20,631 records.</a:t>
            </a:r>
            <a:br>
              <a:rPr lang="en-IN" sz="2800" dirty="0"/>
            </a:br>
            <a:r>
              <a:rPr lang="en-IN" sz="2800" b="1" dirty="0"/>
              <a:t>Data Cleaning:</a:t>
            </a:r>
            <a:r>
              <a:rPr lang="en-IN" sz="2800" dirty="0"/>
              <a:t> Removal of irrelevant/non-informative features.</a:t>
            </a:r>
            <a:br>
              <a:rPr lang="en-IN" sz="2800" dirty="0"/>
            </a:br>
            <a:r>
              <a:rPr lang="en-IN" sz="2800" b="1" dirty="0"/>
              <a:t>Feature Selection:</a:t>
            </a:r>
            <a:r>
              <a:rPr lang="en-IN" sz="2800" dirty="0"/>
              <a:t> 21 sensors </a:t>
            </a:r>
            <a:r>
              <a:rPr lang="en-IN" sz="2800" dirty="0" err="1"/>
              <a:t>analyzed</a:t>
            </a:r>
            <a:r>
              <a:rPr lang="en-IN" sz="2800" dirty="0"/>
              <a:t> → 15 useful sensors selected.</a:t>
            </a:r>
            <a:br>
              <a:rPr lang="en-IN" sz="2800" dirty="0"/>
            </a:br>
            <a:r>
              <a:rPr lang="en-IN" sz="2800" b="1" dirty="0"/>
              <a:t>Zero-Variance Removal:</a:t>
            </a:r>
            <a:r>
              <a:rPr lang="en-IN" sz="2800" dirty="0"/>
              <a:t> Constant sensor features removed.</a:t>
            </a:r>
            <a:br>
              <a:rPr lang="en-IN" sz="2800" dirty="0"/>
            </a:br>
            <a:r>
              <a:rPr lang="en-IN" sz="2800" b="1" dirty="0"/>
              <a:t>Normalization:</a:t>
            </a:r>
            <a:r>
              <a:rPr lang="en-IN" sz="2800" dirty="0"/>
              <a:t> Selected sensors scaled to [0,1] using Min-Max normalization.</a:t>
            </a: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02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Self learning Uncertainty Aware Digital Twin for Continuous Stirred Tank Reactor Process Optimization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Oviya Ragothaman- T9941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40937"/>
            <a:ext cx="11749737" cy="4313538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Industrial processes operate under continuously changing conditions.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Traditional control systems depend on predefined control strategies.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Digital Twin enables virtual simulation and monitoring of industrial processes.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Reinforcement Learning (RL) can learn control actions through process interaction.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This project combines Digital Twin + RL + </a:t>
            </a:r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MLOps</a:t>
            </a: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for autonomous process optimization. </a:t>
            </a:r>
          </a:p>
          <a:p>
            <a:pPr algn="just">
              <a:lnSpc>
                <a:spcPct val="100000"/>
              </a:lnSpc>
            </a:pPr>
            <a:endPara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46537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develop a dynamic CSTR Digital Twin.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develop an autonomous controller using PPO Reinforcement Learning.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design a reward-based optimization mechanism.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evaluate controller performance and stability.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implement </a:t>
            </a:r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MLOps</a:t>
            </a: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-based performance and drift monitoring.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provide monitoring through </a:t>
            </a:r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FastAPI</a:t>
            </a: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Streamlit</a:t>
            </a: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Prometheus and Grafana.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 deploy the system using Docker and Kubernetes.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E1FA87-1D6D-4F51-75D4-CD3CBAA8BD23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Digital Twin development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RL-based autonomous control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PPO agent training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Performance evaluation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Model performance monitoring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Drift detection </a:t>
            </a:r>
          </a:p>
          <a:p>
            <a:pPr lvl="0"/>
            <a:r>
              <a:rPr lang="en-IN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MLOps</a:t>
            </a: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integration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Containerized and Kubernetes-based 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717694-AD82-1964-79E1-C5B81C59041A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60EB9C-CBEB-2ECC-0911-25AF47D64FE4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43B93DF-6493-6F2E-6DBF-8C0642F3E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968634"/>
              </p:ext>
            </p:extLst>
          </p:nvPr>
        </p:nvGraphicFramePr>
        <p:xfrm>
          <a:off x="233403" y="1312334"/>
          <a:ext cx="11725194" cy="452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77">
                  <a:extLst>
                    <a:ext uri="{9D8B030D-6E8A-4147-A177-3AD203B41FA5}">
                      <a16:colId xmlns:a16="http://schemas.microsoft.com/office/drawing/2014/main" val="977989318"/>
                    </a:ext>
                  </a:extLst>
                </a:gridCol>
                <a:gridCol w="4316755">
                  <a:extLst>
                    <a:ext uri="{9D8B030D-6E8A-4147-A177-3AD203B41FA5}">
                      <a16:colId xmlns:a16="http://schemas.microsoft.com/office/drawing/2014/main" val="1154167027"/>
                    </a:ext>
                  </a:extLst>
                </a:gridCol>
                <a:gridCol w="3664064">
                  <a:extLst>
                    <a:ext uri="{9D8B030D-6E8A-4147-A177-3AD203B41FA5}">
                      <a16:colId xmlns:a16="http://schemas.microsoft.com/office/drawing/2014/main" val="4030131142"/>
                    </a:ext>
                  </a:extLst>
                </a:gridCol>
                <a:gridCol w="2931298">
                  <a:extLst>
                    <a:ext uri="{9D8B030D-6E8A-4147-A177-3AD203B41FA5}">
                      <a16:colId xmlns:a16="http://schemas.microsoft.com/office/drawing/2014/main" val="1453661106"/>
                    </a:ext>
                  </a:extLst>
                </a:gridCol>
              </a:tblGrid>
              <a:tr h="839677">
                <a:tc>
                  <a:txBody>
                    <a:bodyPr/>
                    <a:lstStyle/>
                    <a:p>
                      <a:r>
                        <a:rPr lang="en-IN" sz="2400" dirty="0" err="1"/>
                        <a:t>S.No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Paper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Limitations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6494"/>
                  </a:ext>
                </a:extLst>
              </a:tr>
              <a:tr h="1264252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Razi et al. (2022)</a:t>
                      </a:r>
                      <a:r>
                        <a:rPr lang="en-IN" sz="2400" dirty="0"/>
                        <a:t> – </a:t>
                      </a:r>
                      <a:r>
                        <a:rPr lang="en-IN" sz="2400" i="1" dirty="0"/>
                        <a:t>Automatic Generation and Updating of Process Industrial Digital Twins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DT generation, validation and updating for process industries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Does not integrate RL-based autonomous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61135"/>
                  </a:ext>
                </a:extLst>
              </a:tr>
              <a:tr h="1212866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Gao et al. (2022)</a:t>
                      </a:r>
                      <a:r>
                        <a:rPr lang="en-IN" sz="2400" dirty="0"/>
                        <a:t> – </a:t>
                      </a:r>
                      <a:r>
                        <a:rPr lang="en-IN" sz="2400" i="1" dirty="0"/>
                        <a:t>CSTR Control with Deep Reinforcement Learning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Deep Reinforcement Learning for CSTR process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Focuses mainly on control; lacks DT + </a:t>
                      </a:r>
                      <a:r>
                        <a:rPr lang="en-IN" sz="2400" dirty="0" err="1"/>
                        <a:t>MLOps</a:t>
                      </a:r>
                      <a:r>
                        <a:rPr lang="en-IN" sz="2400" dirty="0"/>
                        <a:t>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552597"/>
                  </a:ext>
                </a:extLst>
              </a:tr>
              <a:tr h="1212866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Zhang et al. (2024)</a:t>
                      </a:r>
                      <a:r>
                        <a:rPr lang="en-IN" sz="2400" dirty="0"/>
                        <a:t> – </a:t>
                      </a:r>
                      <a:r>
                        <a:rPr lang="en-IN" sz="2400" i="1" dirty="0"/>
                        <a:t>Reinforcement Learning in Process Industries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Review of RL applications in process control and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Limited integration with Digital Twin and </a:t>
                      </a:r>
                      <a:r>
                        <a:rPr lang="en-IN" sz="2400" dirty="0" err="1"/>
                        <a:t>MLOps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0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Digital Twins enable simulation, monitoring and optimization of industrial processes.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Reinforcement Learning has demonstrated potential for autonomous process control. Existing studies mainly focus on Digital Twin development or RL-based control separately.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Continuous model-performance monitoring and lifecycle management are less integrated.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Research Gap: Integration of Digital Twin + RL + </a:t>
            </a:r>
            <a:r>
              <a:rPr lang="en-IN" b="0" dirty="0" err="1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MLOps</a:t>
            </a:r>
            <a:r>
              <a:rPr lang="en-IN" b="0" dirty="0">
                <a:solidFill>
                  <a:schemeClr val="tx1"/>
                </a:solidFill>
                <a:latin typeface="+mn-lt"/>
                <a:cs typeface="Dubai Light" panose="020B0303030403030204" pitchFamily="34" charset="-78"/>
              </a:rPr>
              <a:t>-based continuous monitoring in a unified framework.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  <a:cs typeface="Dubai Light" panose="020B0303030403030204" pitchFamily="34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3F92C8-742F-904F-9F62-A1A227D51DCA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Process: Continuous Stirred Tank Reactor (CSTR) 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Data Generation: Simulator-generated through RL environment interaction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State Variables: Concentration, Temperature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Control Variable: Coolant Temperature (Tc)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RL Algorithm: Proximal Policy Optimization (PPO)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Deployment: Docker + Kubernetes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Monitoring: Prometheus + Grafana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2B7671-979D-398E-50F0-A2250ACFCDC5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9893844" cy="4977180"/>
          </a:xfrm>
        </p:spPr>
        <p:txBody>
          <a:bodyPr/>
          <a:lstStyle/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1. CSTR Dynamic Simulator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Process-State &amp; Environment Preprocessing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Reinforcement Learning Environment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4. PPO-Based Autonomous Controller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5. Reward Design &amp; Optimization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6. Model Evaluation and Performance Monitoring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7.API and User interface </a:t>
            </a:r>
          </a:p>
          <a:p>
            <a:pPr marL="0" lv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8. Monitoring and Visualization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9.Containerization and Deployment</a:t>
            </a:r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B27BA-FA61-54E0-DB6C-04E4ED06A781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01-  CSTR Dynamic Simulator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ED7D67-A04C-63F5-9ABF-E8063F36BC0A}"/>
              </a:ext>
            </a:extLst>
          </p:cNvPr>
          <p:cNvSpPr txBox="1"/>
          <p:nvPr/>
        </p:nvSpPr>
        <p:spPr>
          <a:xfrm>
            <a:off x="4876801" y="57036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Learning Uncertainty Aware Digital Twin for CSTR Process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216DD-84C2-ACC3-8297-72559D035550}"/>
              </a:ext>
            </a:extLst>
          </p:cNvPr>
          <p:cNvSpPr txBox="1"/>
          <p:nvPr/>
        </p:nvSpPr>
        <p:spPr>
          <a:xfrm>
            <a:off x="255996" y="1524001"/>
            <a:ext cx="116007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Developed a mathematical dynamic model of the CSTR.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Simulate the evolution of: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Concentration (Ca)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Temperature (T)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Coolant temperature (Tc) is used as the control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Solve the CSTR differential equations using SciPy </a:t>
            </a:r>
            <a:r>
              <a:rPr lang="en-IN" sz="2800" dirty="0" err="1">
                <a:latin typeface="+mn-lt"/>
              </a:rPr>
              <a:t>solve_ivp</a:t>
            </a:r>
            <a:r>
              <a:rPr lang="en-IN" sz="2800" dirty="0"/>
              <a:t> (RK45).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Generate process states continuously for different control 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Provide the simulated environment for RL agent interaction and training.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1308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Oviya Ragothaman</cp:lastModifiedBy>
  <cp:revision>12</cp:revision>
  <dcterms:created xsi:type="dcterms:W3CDTF">2024-05-13T10:33:11Z</dcterms:created>
  <dcterms:modified xsi:type="dcterms:W3CDTF">2026-10-05T17:11:34Z</dcterms:modified>
</cp:coreProperties>
</file>